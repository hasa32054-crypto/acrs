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458700" cy="1828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3973CE-5966-445C-AA14-214F9C15224C}" v="1" dt="2026-10-15T09:19:07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219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محمد الظاهري" userId="8a335d08fc0cf246" providerId="LiveId" clId="{975179E9-9E44-4730-953C-76FE5B79B127}"/>
    <pc:docChg chg="undo custSel modSld">
      <pc:chgData name="محمد الظاهري" userId="8a335d08fc0cf246" providerId="LiveId" clId="{975179E9-9E44-4730-953C-76FE5B79B127}" dt="2026-10-15T09:25:07.081" v="318" actId="1076"/>
      <pc:docMkLst>
        <pc:docMk/>
      </pc:docMkLst>
      <pc:sldChg chg="addSp modSp mod">
        <pc:chgData name="محمد الظاهري" userId="8a335d08fc0cf246" providerId="LiveId" clId="{975179E9-9E44-4730-953C-76FE5B79B127}" dt="2026-10-15T09:25:07.081" v="318" actId="1076"/>
        <pc:sldMkLst>
          <pc:docMk/>
          <pc:sldMk cId="1543322788" sldId="256"/>
        </pc:sldMkLst>
        <pc:spChg chg="mod">
          <ac:chgData name="محمد الظاهري" userId="8a335d08fc0cf246" providerId="LiveId" clId="{975179E9-9E44-4730-953C-76FE5B79B127}" dt="2026-10-15T09:14:03.497" v="85" actId="1037"/>
          <ac:spMkLst>
            <pc:docMk/>
            <pc:sldMk cId="1543322788" sldId="256"/>
            <ac:spMk id="3" creationId="{4D39349A-2F4D-454B-B92A-5204621173D2}"/>
          </ac:spMkLst>
        </pc:spChg>
        <pc:spChg chg="mod">
          <ac:chgData name="محمد الظاهري" userId="8a335d08fc0cf246" providerId="LiveId" clId="{975179E9-9E44-4730-953C-76FE5B79B127}" dt="2026-10-15T09:23:35.206" v="213" actId="1076"/>
          <ac:spMkLst>
            <pc:docMk/>
            <pc:sldMk cId="1543322788" sldId="256"/>
            <ac:spMk id="4" creationId="{7D03DCE0-CB80-4CB1-ACC5-72811FDF567C}"/>
          </ac:spMkLst>
        </pc:spChg>
        <pc:spChg chg="mod">
          <ac:chgData name="محمد الظاهري" userId="8a335d08fc0cf246" providerId="LiveId" clId="{975179E9-9E44-4730-953C-76FE5B79B127}" dt="2026-10-15T09:22:59.875" v="210" actId="14100"/>
          <ac:spMkLst>
            <pc:docMk/>
            <pc:sldMk cId="1543322788" sldId="256"/>
            <ac:spMk id="57" creationId="{BB24308F-38A4-43F4-B8DB-ADC4D2C0F80D}"/>
          </ac:spMkLst>
        </pc:spChg>
        <pc:spChg chg="add mod">
          <ac:chgData name="محمد الظاهري" userId="8a335d08fc0cf246" providerId="LiveId" clId="{975179E9-9E44-4730-953C-76FE5B79B127}" dt="2026-10-15T09:21:58.515" v="206" actId="1076"/>
          <ac:spMkLst>
            <pc:docMk/>
            <pc:sldMk cId="1543322788" sldId="256"/>
            <ac:spMk id="60" creationId="{FCBD94AF-353D-0C9B-A923-87A1567A03A7}"/>
          </ac:spMkLst>
        </pc:spChg>
        <pc:spChg chg="add mod">
          <ac:chgData name="محمد الظاهري" userId="8a335d08fc0cf246" providerId="LiveId" clId="{975179E9-9E44-4730-953C-76FE5B79B127}" dt="2026-10-15T09:25:07.081" v="318" actId="1076"/>
          <ac:spMkLst>
            <pc:docMk/>
            <pc:sldMk cId="1543322788" sldId="256"/>
            <ac:spMk id="62" creationId="{44D265C6-E6A1-08A7-4E3D-57379C1EB122}"/>
          </ac:spMkLst>
        </pc:spChg>
        <pc:picChg chg="mod">
          <ac:chgData name="محمد الظاهري" userId="8a335d08fc0cf246" providerId="LiveId" clId="{975179E9-9E44-4730-953C-76FE5B79B127}" dt="2026-10-15T09:14:25.186" v="109" actId="1076"/>
          <ac:picMkLst>
            <pc:docMk/>
            <pc:sldMk cId="1543322788" sldId="256"/>
            <ac:picMk id="2" creationId="{D2C22B27-E419-4075-8A27-1DB6F186480F}"/>
          </ac:picMkLst>
        </pc:picChg>
        <pc:picChg chg="mod">
          <ac:chgData name="محمد الظاهري" userId="8a335d08fc0cf246" providerId="LiveId" clId="{975179E9-9E44-4730-953C-76FE5B79B127}" dt="2026-10-15T09:13:57.469" v="62" actId="14100"/>
          <ac:picMkLst>
            <pc:docMk/>
            <pc:sldMk cId="1543322788" sldId="256"/>
            <ac:picMk id="58" creationId="{2AEBD4AD-80CC-4CAA-9697-0B030999E1EA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53CC1BB-A48F-48FC-A11B-6BFDC55D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870" y="6908800"/>
            <a:ext cx="9966960" cy="2641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9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F814D20-85EE-42A1-8A68-84FD56D6A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8805" y="10058400"/>
            <a:ext cx="8721090" cy="203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490ACF9-0BA0-4E11-8FE6-95B2A4216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870" y="7620000"/>
            <a:ext cx="9966960" cy="3048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A6E49A8-6A75-4656-BA97-02A658EBF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02" y="1422400"/>
            <a:ext cx="11057096" cy="2235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69011C6-AD32-443F-BD4E-301FEA60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802" y="5080000"/>
            <a:ext cx="11057096" cy="11379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3601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1pPr>
            <a:lvl2pPr marL="545068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2pPr>
            <a:lvl3pPr marL="856536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3pPr>
            <a:lvl4pPr marL="1168003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4pPr>
            <a:lvl5pPr marL="1479471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5pPr>
            <a:lvl6pPr marL="1790938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6pPr>
            <a:lvl7pPr marL="2102406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7pPr>
            <a:lvl8pPr marL="2413873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8pPr>
            <a:lvl9pPr marL="2725341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7249958-88F4-4484-AAA4-5C9FDB87F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02" y="1422400"/>
            <a:ext cx="11057096" cy="2235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F148D74-3EAD-499B-A004-7BEA62689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802" y="5080000"/>
            <a:ext cx="5139214" cy="11379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3601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1pPr>
            <a:lvl2pPr marL="545068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2pPr>
            <a:lvl3pPr marL="856536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3pPr>
            <a:lvl4pPr marL="1168003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4pPr>
            <a:lvl5pPr marL="1479471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5pPr>
            <a:lvl6pPr marL="1790938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6pPr>
            <a:lvl7pPr marL="2102406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7pPr>
            <a:lvl8pPr marL="2413873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8pPr>
            <a:lvl9pPr marL="2725341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3572752-F1D2-4CB2-B306-AC0F8E97351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618684" y="5080000"/>
            <a:ext cx="5139214" cy="11379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3601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1pPr>
            <a:lvl2pPr marL="545068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2pPr>
            <a:lvl3pPr marL="856536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3pPr>
            <a:lvl4pPr marL="1168003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4pPr>
            <a:lvl5pPr marL="1479471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5pPr>
            <a:lvl6pPr marL="1790938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6pPr>
            <a:lvl7pPr marL="2102406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7pPr>
            <a:lvl8pPr marL="2413873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8pPr>
            <a:lvl9pPr marL="2725341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129E0F-6C91-4802-B6FD-B86637C64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02" y="1422400"/>
            <a:ext cx="11057096" cy="2235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1BB25D4-AFBA-4E9E-B687-5C94AF091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802" y="5080000"/>
            <a:ext cx="5139214" cy="11379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3601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1pPr>
            <a:lvl2pPr marL="545068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2pPr>
            <a:lvl3pPr marL="856536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3pPr>
            <a:lvl4pPr marL="1168003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4pPr>
            <a:lvl5pPr marL="1479471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5pPr>
            <a:lvl6pPr marL="1790938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6pPr>
            <a:lvl7pPr marL="2102406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7pPr>
            <a:lvl8pPr marL="2413873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8pPr>
            <a:lvl9pPr marL="2725341" indent="-233601">
              <a:lnSpc>
                <a:spcPct val="110000"/>
              </a:lnSpc>
              <a:spcBef>
                <a:spcPts val="0"/>
              </a:spcBef>
              <a:spcAft>
                <a:spcPts val="1226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صورة 57">
            <a:extLst>
              <a:ext uri="{FF2B5EF4-FFF2-40B4-BE49-F238E27FC236}">
                <a16:creationId xmlns:a16="http://schemas.microsoft.com/office/drawing/2014/main" id="{2AEBD4AD-80CC-4CAA-9697-0B030999E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2395" y="802172"/>
            <a:ext cx="2012665" cy="1396029"/>
          </a:xfrm>
          <a:prstGeom prst="rect">
            <a:avLst/>
          </a:prstGeom>
        </p:spPr>
      </p:pic>
      <p:pic>
        <p:nvPicPr>
          <p:cNvPr id="2" name="صورة 1">
            <a:extLst>
              <a:ext uri="{FF2B5EF4-FFF2-40B4-BE49-F238E27FC236}">
                <a16:creationId xmlns:a16="http://schemas.microsoft.com/office/drawing/2014/main" id="{D2C22B27-E419-4075-8A27-1DB6F1864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762250" y="723900"/>
            <a:ext cx="2012665" cy="1476375"/>
          </a:xfrm>
          <a:prstGeom prst="rect">
            <a:avLst/>
          </a:prstGeom>
        </p:spPr>
      </p:pic>
      <p:sp>
        <p:nvSpPr>
          <p:cNvPr id="3" name="فاصل الشعارين">
            <a:extLst>
              <a:ext uri="{FF2B5EF4-FFF2-40B4-BE49-F238E27FC236}">
                <a16:creationId xmlns:a16="http://schemas.microsoft.com/office/drawing/2014/main" id="{4D39349A-2F4D-454B-B92A-5204621173D2}"/>
              </a:ext>
            </a:extLst>
          </p:cNvPr>
          <p:cNvSpPr>
            <a:spLocks noGrp="1"/>
          </p:cNvSpPr>
          <p:nvPr/>
        </p:nvSpPr>
        <p:spPr>
          <a:xfrm>
            <a:off x="2544802" y="762000"/>
            <a:ext cx="19050" cy="1381125"/>
          </a:xfrm>
          <a:prstGeom prst="rect">
            <a:avLst/>
          </a:prstGeom>
          <a:solidFill>
            <a:srgbClr val="B9C5CC"/>
          </a:soli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ترويسة عنوان المشروع">
            <a:extLst>
              <a:ext uri="{FF2B5EF4-FFF2-40B4-BE49-F238E27FC236}">
                <a16:creationId xmlns:a16="http://schemas.microsoft.com/office/drawing/2014/main" id="{7D03DCE0-CB80-4CB1-ACC5-72811FDF567C}"/>
              </a:ext>
            </a:extLst>
          </p:cNvPr>
          <p:cNvSpPr>
            <a:spLocks noGrp="1"/>
          </p:cNvSpPr>
          <p:nvPr/>
        </p:nvSpPr>
        <p:spPr>
          <a:xfrm>
            <a:off x="2095500" y="2781300"/>
            <a:ext cx="8305800" cy="2914650"/>
          </a:xfrm>
          <a:prstGeom prst="roundRect">
            <a:avLst>
              <a:gd name="adj" fmla="val 11438"/>
            </a:avLst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عنوان المشروع">
            <a:extLst>
              <a:ext uri="{FF2B5EF4-FFF2-40B4-BE49-F238E27FC236}">
                <a16:creationId xmlns:a16="http://schemas.microsoft.com/office/drawing/2014/main" id="{48F36BFF-C5D5-44BA-B561-6BD6DF7A6C70}"/>
              </a:ext>
            </a:extLst>
          </p:cNvPr>
          <p:cNvSpPr>
            <a:spLocks noGrp="1"/>
          </p:cNvSpPr>
          <p:nvPr/>
        </p:nvSpPr>
        <p:spPr>
          <a:xfrm>
            <a:off x="3345500" y="2930000"/>
            <a:ext cx="6955800" cy="13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0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ACRS</a:t>
            </a:r>
            <a:r>
              <a:rPr sz="1700" b="1">
                <a:solidFill>
                  <a:srgbClr val="FFFFFF"/>
                </a:solidFill>
                <a:latin typeface="Arial"/>
              </a:rPr>
              <a:t>  Automated Compromise Response System</a:t>
            </a:r>
          </a:p>
          <a:p>
            <a:pPr algn="ctr" rtl="1">
              <a:spcBef>
                <a:spcPts val="400"/>
              </a:spcBef>
            </a:pPr>
            <a:r>
              <a:rPr sz="2800" b="1">
                <a:solidFill>
                  <a:srgbClr val="FFFFFF"/>
                </a:solidFill>
                <a:latin typeface="Arial"/>
              </a:rPr>
              <a:t>نظام الاستجابة الآلية للاختراق</a:t>
            </a:r>
          </a:p>
        </p:txBody>
      </p:sp>
      <p:sp>
        <p:nvSpPr>
          <p:cNvPr id="6" name="اسم الطالب">
            <a:extLst>
              <a:ext uri="{FF2B5EF4-FFF2-40B4-BE49-F238E27FC236}">
                <a16:creationId xmlns:a16="http://schemas.microsoft.com/office/drawing/2014/main" id="{EC14A3A0-7475-4050-9BF2-101CEC46ACBD}"/>
              </a:ext>
            </a:extLst>
          </p:cNvPr>
          <p:cNvSpPr>
            <a:spLocks noGrp="1"/>
          </p:cNvSpPr>
          <p:nvPr/>
        </p:nvSpPr>
        <p:spPr>
          <a:xfrm>
            <a:off x="6619875" y="44200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حسان عبدالله الينبعاوي</a:t>
            </a:r>
          </a:p>
        </p:txBody>
      </p:sp>
      <p:sp>
        <p:nvSpPr>
          <p:cNvPr id="7" name="المدرسة">
            <a:extLst>
              <a:ext uri="{FF2B5EF4-FFF2-40B4-BE49-F238E27FC236}">
                <a16:creationId xmlns:a16="http://schemas.microsoft.com/office/drawing/2014/main" id="{4324D62F-091E-4C9D-B95B-88D5E326D6B1}"/>
              </a:ext>
            </a:extLst>
          </p:cNvPr>
          <p:cNvSpPr>
            <a:spLocks noGrp="1"/>
          </p:cNvSpPr>
          <p:nvPr/>
        </p:nvSpPr>
        <p:spPr>
          <a:xfrm>
            <a:off x="2762250" y="44200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ثانوية الموهوبين التقنية</a:t>
            </a:r>
          </a:p>
        </p:txBody>
      </p:sp>
      <p:sp>
        <p:nvSpPr>
          <p:cNvPr id="8" name="الجناح الأيسر">
            <a:extLst>
              <a:ext uri="{FF2B5EF4-FFF2-40B4-BE49-F238E27FC236}">
                <a16:creationId xmlns:a16="http://schemas.microsoft.com/office/drawing/2014/main" id="{1A002FCF-66F2-42F9-8131-4BDB49C82398}"/>
              </a:ext>
            </a:extLst>
          </p:cNvPr>
          <p:cNvSpPr>
            <a:spLocks noGrp="1"/>
          </p:cNvSpPr>
          <p:nvPr/>
        </p:nvSpPr>
        <p:spPr>
          <a:xfrm>
            <a:off x="238125" y="5629275"/>
            <a:ext cx="2962275" cy="10550725"/>
          </a:xfrm>
          <a:custGeom>
            <a:avLst/>
            <a:gdLst/>
            <a:ahLst/>
            <a:cxnLst/>
            <a:rect l="0" t="0" r="0" b="0"/>
            <a:pathLst>
              <a:path w="2962275" h="9153525">
                <a:moveTo>
                  <a:pt x="523875" y="0"/>
                </a:moveTo>
                <a:cubicBezTo>
                  <a:pt x="228600" y="0"/>
                  <a:pt x="0" y="238125"/>
                  <a:pt x="0" y="523875"/>
                </a:cubicBezTo>
                <a:lnTo>
                  <a:pt x="0" y="8620125"/>
                </a:lnTo>
                <a:cubicBezTo>
                  <a:pt x="0" y="8915400"/>
                  <a:pt x="228600" y="9153525"/>
                  <a:pt x="523875" y="9153525"/>
                </a:cubicBezTo>
                <a:lnTo>
                  <a:pt x="2962275" y="8667750"/>
                </a:lnTo>
                <a:lnTo>
                  <a:pt x="2962275" y="295275"/>
                </a:lnTo>
                <a:lnTo>
                  <a:pt x="523875" y="0"/>
                </a:lnTo>
                <a:close/>
              </a:path>
            </a:pathLst>
          </a:custGeom>
          <a:solidFill>
            <a:srgbClr val="FFFFFF"/>
          </a:solidFill>
          <a:ln w="52388">
            <a:gradFill>
              <a:gsLst>
                <a:gs pos="0">
                  <a:srgbClr val="417FB5"/>
                </a:gs>
                <a:gs pos="30000">
                  <a:srgbClr val="417FB5"/>
                </a:gs>
                <a:gs pos="65000">
                  <a:srgbClr val="0DA4A6"/>
                </a:gs>
                <a:gs pos="100000">
                  <a:srgbClr val="00A866"/>
                </a:gs>
              </a:gsLst>
              <a:lin ang="0"/>
            </a:gradFill>
          </a:ln>
        </p:spPr>
        <p:txBody>
          <a:bodyPr/>
          <a:lstStyle/>
          <a:p>
            <a:endParaRPr lang="ar-SA"/>
          </a:p>
        </p:txBody>
      </p:sp>
      <p:sp>
        <p:nvSpPr>
          <p:cNvPr id="9" name="الجناح الأيمن">
            <a:extLst>
              <a:ext uri="{FF2B5EF4-FFF2-40B4-BE49-F238E27FC236}">
                <a16:creationId xmlns:a16="http://schemas.microsoft.com/office/drawing/2014/main" id="{437A91F3-0FC2-436F-A2A0-8AFC3262920C}"/>
              </a:ext>
            </a:extLst>
          </p:cNvPr>
          <p:cNvSpPr>
            <a:spLocks noGrp="1"/>
          </p:cNvSpPr>
          <p:nvPr/>
        </p:nvSpPr>
        <p:spPr>
          <a:xfrm flipH="1">
            <a:off x="9277350" y="5629275"/>
            <a:ext cx="2962275" cy="10550725"/>
          </a:xfrm>
          <a:custGeom>
            <a:avLst/>
            <a:gdLst/>
            <a:ahLst/>
            <a:cxnLst/>
            <a:rect l="0" t="0" r="0" b="0"/>
            <a:pathLst>
              <a:path w="2962275" h="9153525">
                <a:moveTo>
                  <a:pt x="523875" y="0"/>
                </a:moveTo>
                <a:cubicBezTo>
                  <a:pt x="228600" y="0"/>
                  <a:pt x="0" y="238125"/>
                  <a:pt x="0" y="523875"/>
                </a:cubicBezTo>
                <a:lnTo>
                  <a:pt x="0" y="8620125"/>
                </a:lnTo>
                <a:cubicBezTo>
                  <a:pt x="0" y="8915400"/>
                  <a:pt x="228600" y="9153525"/>
                  <a:pt x="523875" y="9153525"/>
                </a:cubicBezTo>
                <a:lnTo>
                  <a:pt x="2962275" y="8667750"/>
                </a:lnTo>
                <a:lnTo>
                  <a:pt x="2962275" y="295275"/>
                </a:lnTo>
                <a:lnTo>
                  <a:pt x="523875" y="0"/>
                </a:lnTo>
                <a:close/>
              </a:path>
            </a:pathLst>
          </a:custGeom>
          <a:solidFill>
            <a:srgbClr val="FFFFFF"/>
          </a:solidFill>
          <a:ln w="52388">
            <a:gradFill>
              <a:gsLst>
                <a:gs pos="0">
                  <a:srgbClr val="417FB5"/>
                </a:gs>
                <a:gs pos="30000">
                  <a:srgbClr val="417FB5"/>
                </a:gs>
                <a:gs pos="65000">
                  <a:srgbClr val="0DA4A6"/>
                </a:gs>
                <a:gs pos="100000">
                  <a:srgbClr val="00A866"/>
                </a:gs>
              </a:gsLst>
              <a:lin ang="0"/>
            </a:gradFill>
          </a:ln>
        </p:spPr>
        <p:txBody>
          <a:bodyPr/>
          <a:lstStyle/>
          <a:p>
            <a:endParaRPr lang="ar-SA"/>
          </a:p>
        </p:txBody>
      </p:sp>
      <p:sp>
        <p:nvSpPr>
          <p:cNvPr id="10" name="القسم الأوسط">
            <a:extLst>
              <a:ext uri="{FF2B5EF4-FFF2-40B4-BE49-F238E27FC236}">
                <a16:creationId xmlns:a16="http://schemas.microsoft.com/office/drawing/2014/main" id="{9D96E6BB-AEBA-4BA0-ADD1-018FA14E9F3F}"/>
              </a:ext>
            </a:extLst>
          </p:cNvPr>
          <p:cNvSpPr>
            <a:spLocks noGrp="1"/>
          </p:cNvSpPr>
          <p:nvPr/>
        </p:nvSpPr>
        <p:spPr>
          <a:xfrm>
            <a:off x="3314700" y="5969620"/>
            <a:ext cx="5876925" cy="9639476"/>
          </a:xfrm>
          <a:prstGeom prst="rect">
            <a:avLst/>
          </a:prstGeom>
          <a:solidFill>
            <a:srgbClr val="FFFFFF"/>
          </a:solidFill>
          <a:ln w="52388">
            <a:gradFill>
              <a:gsLst>
                <a:gs pos="0">
                  <a:srgbClr val="417FB5"/>
                </a:gs>
                <a:gs pos="30000">
                  <a:srgbClr val="417FB5"/>
                </a:gs>
                <a:gs pos="65000">
                  <a:srgbClr val="0DA4A6"/>
                </a:gs>
                <a:gs pos="100000">
                  <a:srgbClr val="00A866"/>
                </a:gs>
              </a:gsLst>
              <a:lin ang="0"/>
            </a:gra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شريط النتائج">
            <a:extLst>
              <a:ext uri="{FF2B5EF4-FFF2-40B4-BE49-F238E27FC236}">
                <a16:creationId xmlns:a16="http://schemas.microsoft.com/office/drawing/2014/main" id="{4F441B9D-4FD5-4A52-8B1C-AB2DA12362CA}"/>
              </a:ext>
            </a:extLst>
          </p:cNvPr>
          <p:cNvSpPr>
            <a:spLocks noGrp="1"/>
          </p:cNvSpPr>
          <p:nvPr/>
        </p:nvSpPr>
        <p:spPr>
          <a:xfrm>
            <a:off x="276225" y="6068431"/>
            <a:ext cx="2886075" cy="362303"/>
          </a:xfrm>
          <a:prstGeom prst="rect">
            <a:avLst/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" name="عنوان قسم النتائج">
            <a:extLst>
              <a:ext uri="{FF2B5EF4-FFF2-40B4-BE49-F238E27FC236}">
                <a16:creationId xmlns:a16="http://schemas.microsoft.com/office/drawing/2014/main" id="{B212C057-E0E9-4C8C-92EC-23E8F2986AF0}"/>
              </a:ext>
            </a:extLst>
          </p:cNvPr>
          <p:cNvSpPr>
            <a:spLocks noGrp="1"/>
          </p:cNvSpPr>
          <p:nvPr/>
        </p:nvSpPr>
        <p:spPr>
          <a:xfrm>
            <a:off x="304800" y="6079409"/>
            <a:ext cx="2828925" cy="340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النتائج</a:t>
            </a:r>
          </a:p>
        </p:txBody>
      </p:sp>
      <p:sp>
        <p:nvSpPr>
          <p:cNvPr id="13" name="نص النتائج">
            <a:extLst>
              <a:ext uri="{FF2B5EF4-FFF2-40B4-BE49-F238E27FC236}">
                <a16:creationId xmlns:a16="http://schemas.microsoft.com/office/drawing/2014/main" id="{3055ED11-5C3D-4624-ADDC-FF3AB2E5D8ED}"/>
              </a:ext>
            </a:extLst>
          </p:cNvPr>
          <p:cNvSpPr>
            <a:spLocks noGrp="1"/>
          </p:cNvSpPr>
          <p:nvPr/>
        </p:nvSpPr>
        <p:spPr>
          <a:xfrm>
            <a:off x="409575" y="6606397"/>
            <a:ext cx="2619375" cy="14931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>
            <a:defPPr algn="r"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defPPr>
          </a:lstStyle>
          <a:p>
            <a:pPr algn="r" rtl="1">
              <a:spcAft>
                <a:spcPts val="0"/>
              </a:spcAft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pPr>
            <a:r>
              <a:rPr sz="1800" b="1" lang="ar-SA">
                <a:solidFill>
                  <a:srgbClr val="008A58"/>
                </a:solidFill>
                <a:latin typeface="Arial"/>
                <a:cs typeface="Arial"/>
              </a:rPr>
              <a:t>91%  </a:t>
            </a:r>
            <a:r>
              <a:rPr sz="1200" b="0" lang="ar-SA">
                <a:solidFill>
                  <a:srgbClr val="1C2328"/>
                </a:solidFill>
                <a:latin typeface="Arial"/>
                <a:cs typeface="Arial"/>
              </a:rPr>
              <a:t>من الهجمات احتواها تلقائيًا</a:t>
            </a:r>
          </a:p>
          <a:p>
            <a:pPr algn="r" rtl="1">
              <a:spcAft>
                <a:spcPts val="0"/>
              </a:spcAft>
            </a:pPr>
            <a:r>
              <a:rPr sz="1800" b="1" lang="ar-SA">
                <a:solidFill>
                  <a:srgbClr val="008A58"/>
                </a:solidFill>
                <a:latin typeface="Arial"/>
                <a:cs typeface="Arial"/>
              </a:rPr>
              <a:t>70  </a:t>
            </a:r>
            <a:r>
              <a:rPr sz="1200" b="0" lang="ar-SA">
                <a:solidFill>
                  <a:srgbClr val="1C2328"/>
                </a:solidFill>
                <a:latin typeface="Arial"/>
                <a:cs typeface="Arial"/>
              </a:rPr>
              <a:t>خدمة تعطّلت بدل 268</a:t>
            </a:r>
          </a:p>
          <a:p>
            <a:pPr algn="r" rtl="1">
              <a:spcAft>
                <a:spcPts val="0"/>
              </a:spcAft>
            </a:pPr>
            <a:r>
              <a:rPr sz="1800" b="1" lang="ar-SA">
                <a:solidFill>
                  <a:srgbClr val="008A58"/>
                </a:solidFill>
                <a:latin typeface="Arial"/>
                <a:cs typeface="Arial"/>
              </a:rPr>
              <a:t>0  </a:t>
            </a:r>
            <a:r>
              <a:rPr sz="1200" b="0" lang="ar-SA">
                <a:solidFill>
                  <a:srgbClr val="1C2328"/>
                </a:solidFill>
                <a:latin typeface="Arial"/>
                <a:cs typeface="Arial"/>
              </a:rPr>
              <a:t>قرارات خطيرة</a:t>
            </a:r>
          </a:p>
          <a:p>
            <a:pPr algn="r" rtl="1">
              <a:spcAft>
                <a:spcPts val="0"/>
              </a:spcAft>
            </a:pPr>
            <a:r>
              <a:rPr sz="1800" b="1" lang="ar-SA">
                <a:solidFill>
                  <a:srgbClr val="008A58"/>
                </a:solidFill>
                <a:latin typeface="Arial"/>
                <a:cs typeface="Arial"/>
              </a:rPr>
              <a:t>11/11  </a:t>
            </a:r>
            <a:r>
              <a:rPr sz="1200" b="0" lang="ar-SA">
                <a:solidFill>
                  <a:srgbClr val="1C2328"/>
                </a:solidFill>
                <a:latin typeface="Arial"/>
                <a:cs typeface="Arial"/>
              </a:rPr>
              <a:t>أفضل حل كمّي</a:t>
            </a:r>
          </a:p>
          <a:p>
            <a:pPr algn="r" rtl="1">
              <a:spcAft>
                <a:spcPts val="0"/>
              </a:spcAft>
            </a:pPr>
            <a:r>
              <a:rPr sz="1800" b="1" lang="ar-SA">
                <a:solidFill>
                  <a:srgbClr val="008A58"/>
                </a:solidFill>
                <a:latin typeface="Arial"/>
                <a:cs typeface="Arial"/>
              </a:rPr>
              <a:t>0  </a:t>
            </a:r>
            <a:r>
              <a:rPr sz="1200" b="0" lang="ar-SA">
                <a:solidFill>
                  <a:srgbClr val="1C2328"/>
                </a:solidFill>
                <a:latin typeface="Arial"/>
                <a:cs typeface="Arial"/>
              </a:rPr>
              <a:t>جهاز رجع بعد 200 إعادة تشغيل</a:t>
            </a:r>
          </a:p>
        </p:txBody>
      </p:sp>
      <p:sp>
        <p:nvSpPr>
          <p:cNvPr id="14" name="شريط الاستنتاج">
            <a:extLst>
              <a:ext uri="{FF2B5EF4-FFF2-40B4-BE49-F238E27FC236}">
                <a16:creationId xmlns:a16="http://schemas.microsoft.com/office/drawing/2014/main" id="{BB42878C-B446-4D1B-9420-DF87AEE08669}"/>
              </a:ext>
            </a:extLst>
          </p:cNvPr>
          <p:cNvSpPr>
            <a:spLocks noGrp="1"/>
          </p:cNvSpPr>
          <p:nvPr/>
        </p:nvSpPr>
        <p:spPr>
          <a:xfrm>
            <a:off x="276225" y="8275190"/>
            <a:ext cx="2886075" cy="362303"/>
          </a:xfrm>
          <a:prstGeom prst="rect">
            <a:avLst/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" name="عنوان قسم الاستنتاج">
            <a:extLst>
              <a:ext uri="{FF2B5EF4-FFF2-40B4-BE49-F238E27FC236}">
                <a16:creationId xmlns:a16="http://schemas.microsoft.com/office/drawing/2014/main" id="{95233372-69FB-41E5-AF27-734B76A0FC41}"/>
              </a:ext>
            </a:extLst>
          </p:cNvPr>
          <p:cNvSpPr>
            <a:spLocks noGrp="1"/>
          </p:cNvSpPr>
          <p:nvPr/>
        </p:nvSpPr>
        <p:spPr>
          <a:xfrm>
            <a:off x="304800" y="8286169"/>
            <a:ext cx="2828925" cy="340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الاستنتاج</a:t>
            </a:r>
          </a:p>
        </p:txBody>
      </p:sp>
      <p:sp>
        <p:nvSpPr>
          <p:cNvPr id="16" name="نص الاستنتاج">
            <a:extLst>
              <a:ext uri="{FF2B5EF4-FFF2-40B4-BE49-F238E27FC236}">
                <a16:creationId xmlns:a16="http://schemas.microsoft.com/office/drawing/2014/main" id="{27012840-C332-4417-8C44-AE229EC494CE}"/>
              </a:ext>
            </a:extLst>
          </p:cNvPr>
          <p:cNvSpPr>
            <a:spLocks noGrp="1"/>
          </p:cNvSpPr>
          <p:nvPr/>
        </p:nvSpPr>
        <p:spPr>
          <a:xfrm>
            <a:off x="409575" y="8813156"/>
            <a:ext cx="2619375" cy="10100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>
            <a:defPPr algn="r"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defPPr>
          </a:lstStyle>
          <a:p>
            <a:pPr algn="r" rtl="1">
              <a:spcAft>
                <a:spcPts val="300"/>
              </a:spcAft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pPr>
            <a:r>
              <a:rPr sz="1200" b="0" lang="ar-SA">
                <a:solidFill>
                  <a:srgbClr val="1C2328"/>
                </a:solidFill>
                <a:latin typeface="Arial"/>
                <a:cs typeface="Arial"/>
              </a:rPr>
              <a:t>نقدر نوقف المخترق بدون ما نطفي الخدمات، من أول تنبيه.</a:t>
            </a:r>
          </a:p>
          <a:p>
            <a:pPr algn="r" rtl="1">
              <a:spcAft>
                <a:spcPts val="300"/>
              </a:spcAft>
            </a:pPr>
            <a:r>
              <a:rPr sz="1200" b="1" lang="ar-SA">
                <a:solidFill>
                  <a:srgbClr val="1C2328"/>
                </a:solidFill>
                <a:latin typeface="Arial"/>
                <a:cs typeface="Arial"/>
              </a:rPr>
              <a:t>مثال HSE (مستشفيات إيرلندا): </a:t>
            </a:r>
            <a:r>
              <a:rPr sz="1200" b="0" lang="ar-SA">
                <a:solidFill>
                  <a:srgbClr val="1C2328"/>
                </a:solidFill>
                <a:latin typeface="Arial"/>
                <a:cs typeface="Arial"/>
              </a:rPr>
              <a:t>فصل جهاز واحد كان يكفي، بدل تعطّل 9 خدمات بعد 6 أسابيع.</a:t>
            </a:r>
          </a:p>
        </p:txBody>
      </p:sp>
      <p:sp>
        <p:nvSpPr>
          <p:cNvPr id="17" name="شريط التطبيقات">
            <a:extLst>
              <a:ext uri="{FF2B5EF4-FFF2-40B4-BE49-F238E27FC236}">
                <a16:creationId xmlns:a16="http://schemas.microsoft.com/office/drawing/2014/main" id="{6E2F2C84-65F8-4702-BE79-D71FCBDD480A}"/>
              </a:ext>
            </a:extLst>
          </p:cNvPr>
          <p:cNvSpPr>
            <a:spLocks noGrp="1"/>
          </p:cNvSpPr>
          <p:nvPr/>
        </p:nvSpPr>
        <p:spPr>
          <a:xfrm>
            <a:off x="276225" y="9998878"/>
            <a:ext cx="2886075" cy="362303"/>
          </a:xfrm>
          <a:prstGeom prst="rect">
            <a:avLst/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" name="عنوان قسم التطبيقات">
            <a:extLst>
              <a:ext uri="{FF2B5EF4-FFF2-40B4-BE49-F238E27FC236}">
                <a16:creationId xmlns:a16="http://schemas.microsoft.com/office/drawing/2014/main" id="{3B45D5AD-7C22-4689-AC62-22F22E269F29}"/>
              </a:ext>
            </a:extLst>
          </p:cNvPr>
          <p:cNvSpPr>
            <a:spLocks noGrp="1"/>
          </p:cNvSpPr>
          <p:nvPr/>
        </p:nvSpPr>
        <p:spPr>
          <a:xfrm>
            <a:off x="304800" y="10009856"/>
            <a:ext cx="2828925" cy="340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التطبيقات</a:t>
            </a:r>
          </a:p>
        </p:txBody>
      </p:sp>
      <p:sp>
        <p:nvSpPr>
          <p:cNvPr id="19" name="نص التطبيقات">
            <a:extLst>
              <a:ext uri="{FF2B5EF4-FFF2-40B4-BE49-F238E27FC236}">
                <a16:creationId xmlns:a16="http://schemas.microsoft.com/office/drawing/2014/main" id="{BE118E6E-7C47-43AE-A801-280A8D06DBAD}"/>
              </a:ext>
            </a:extLst>
          </p:cNvPr>
          <p:cNvSpPr>
            <a:spLocks noGrp="1"/>
          </p:cNvSpPr>
          <p:nvPr/>
        </p:nvSpPr>
        <p:spPr>
          <a:xfrm>
            <a:off x="409575" y="10536844"/>
            <a:ext cx="2619375" cy="10100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>
            <a:defPPr algn="r"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defPPr>
          </a:lstStyle>
          <a:p>
            <a:pPr algn="r" rtl="1">
              <a:spcAft>
                <a:spcPts val="300"/>
              </a:spcAft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pP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المستشفيات، والبنوك، والجامعات، والمرافق المهمة مثل الكهرباء والماء.</a:t>
            </a:r>
          </a:p>
          <a:p>
            <a:pPr algn="r" rtl="1">
              <a:spcAft>
                <a:spcPts val="300"/>
              </a:spcAft>
            </a:pP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مصمَّم لدعم ضوابط الأمن السيبراني الوطنية ECC-2:2024.</a:t>
            </a:r>
          </a:p>
        </p:txBody>
      </p:sp>
      <p:sp>
        <p:nvSpPr>
          <p:cNvPr id="20" name="شريط الأعمال المستقبلية">
            <a:extLst>
              <a:ext uri="{FF2B5EF4-FFF2-40B4-BE49-F238E27FC236}">
                <a16:creationId xmlns:a16="http://schemas.microsoft.com/office/drawing/2014/main" id="{8A38E76E-A1F5-4D5D-8A98-3D0CB1358490}"/>
              </a:ext>
            </a:extLst>
          </p:cNvPr>
          <p:cNvSpPr>
            <a:spLocks noGrp="1"/>
          </p:cNvSpPr>
          <p:nvPr/>
        </p:nvSpPr>
        <p:spPr>
          <a:xfrm>
            <a:off x="276225" y="11722565"/>
            <a:ext cx="2886075" cy="362303"/>
          </a:xfrm>
          <a:prstGeom prst="rect">
            <a:avLst/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1" name="عنوان قسم الأعمال المستقبلية">
            <a:extLst>
              <a:ext uri="{FF2B5EF4-FFF2-40B4-BE49-F238E27FC236}">
                <a16:creationId xmlns:a16="http://schemas.microsoft.com/office/drawing/2014/main" id="{2E71E3F2-EF1E-4E92-87F9-90D83FC5368F}"/>
              </a:ext>
            </a:extLst>
          </p:cNvPr>
          <p:cNvSpPr>
            <a:spLocks noGrp="1"/>
          </p:cNvSpPr>
          <p:nvPr/>
        </p:nvSpPr>
        <p:spPr>
          <a:xfrm>
            <a:off x="304800" y="11733544"/>
            <a:ext cx="2828925" cy="340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الأعمال المستقبلية</a:t>
            </a:r>
          </a:p>
        </p:txBody>
      </p:sp>
      <p:sp>
        <p:nvSpPr>
          <p:cNvPr id="22" name="نص الأعمال المستقبلية">
            <a:extLst>
              <a:ext uri="{FF2B5EF4-FFF2-40B4-BE49-F238E27FC236}">
                <a16:creationId xmlns:a16="http://schemas.microsoft.com/office/drawing/2014/main" id="{02F1DD3D-5760-46B6-BFD2-9EB2405289EC}"/>
              </a:ext>
            </a:extLst>
          </p:cNvPr>
          <p:cNvSpPr>
            <a:spLocks noGrp="1"/>
          </p:cNvSpPr>
          <p:nvPr/>
        </p:nvSpPr>
        <p:spPr>
          <a:xfrm>
            <a:off x="409575" y="12260531"/>
            <a:ext cx="2619375" cy="10429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>
            <a:defPPr algn="r"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defPPr>
          </a:lstStyle>
          <a:p>
            <a:pPr algn="r" rtl="1">
              <a:spcAft>
                <a:spcPts val="300"/>
              </a:spcAft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pP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جهاز ACRS Box صغير يُركّب بالشبكة، ومواجهة المخترق الذكي، وتجربة الحاسوب الكمّي في أرامكو، ونشر بحث علمي.</a:t>
            </a:r>
          </a:p>
        </p:txBody>
      </p:sp>
      <p:sp>
        <p:nvSpPr>
          <p:cNvPr id="23" name="شريط مصادر البحث">
            <a:extLst>
              <a:ext uri="{FF2B5EF4-FFF2-40B4-BE49-F238E27FC236}">
                <a16:creationId xmlns:a16="http://schemas.microsoft.com/office/drawing/2014/main" id="{93CCBB0A-CFDA-4EF8-ACD2-29B03D6F07F9}"/>
              </a:ext>
            </a:extLst>
          </p:cNvPr>
          <p:cNvSpPr>
            <a:spLocks noGrp="1"/>
          </p:cNvSpPr>
          <p:nvPr/>
        </p:nvSpPr>
        <p:spPr>
          <a:xfrm>
            <a:off x="276225" y="13479190"/>
            <a:ext cx="2886075" cy="362303"/>
          </a:xfrm>
          <a:prstGeom prst="rect">
            <a:avLst/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4" name="عنوان قسم مصادر البحث">
            <a:extLst>
              <a:ext uri="{FF2B5EF4-FFF2-40B4-BE49-F238E27FC236}">
                <a16:creationId xmlns:a16="http://schemas.microsoft.com/office/drawing/2014/main" id="{1895B35C-A20F-4BD1-841C-883C41BF5974}"/>
              </a:ext>
            </a:extLst>
          </p:cNvPr>
          <p:cNvSpPr>
            <a:spLocks noGrp="1"/>
          </p:cNvSpPr>
          <p:nvPr/>
        </p:nvSpPr>
        <p:spPr>
          <a:xfrm>
            <a:off x="304800" y="13490168"/>
            <a:ext cx="2828925" cy="340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مصادر البحث</a:t>
            </a:r>
          </a:p>
        </p:txBody>
      </p:sp>
      <p:sp>
        <p:nvSpPr>
          <p:cNvPr id="25" name="نص مصادر البحث">
            <a:extLst>
              <a:ext uri="{FF2B5EF4-FFF2-40B4-BE49-F238E27FC236}">
                <a16:creationId xmlns:a16="http://schemas.microsoft.com/office/drawing/2014/main" id="{FD41304A-C183-4263-AC04-685939321EB9}"/>
              </a:ext>
            </a:extLst>
          </p:cNvPr>
          <p:cNvSpPr>
            <a:spLocks noGrp="1"/>
          </p:cNvSpPr>
          <p:nvPr/>
        </p:nvSpPr>
        <p:spPr>
          <a:xfrm>
            <a:off x="409575" y="14017156"/>
            <a:ext cx="2619375" cy="13064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>
            <a:defPPr algn="r"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defPPr>
          </a:lstStyle>
          <a:p>
            <a:pPr algn="l" rtl="0">
              <a:spcAft>
                <a:spcPts val="300"/>
              </a:spcAft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pPr>
            <a:r>
              <a:rPr sz="1200" b="0" lang="ar-SA">
                <a:solidFill>
                  <a:srgbClr val="1C2328"/>
                </a:solidFill>
                <a:latin typeface="Arial"/>
                <a:cs typeface="Arial"/>
              </a:rPr>
              <a:t>NAO (2017). WannaCry and the NHS.</a:t>
            </a:r>
          </a:p>
          <a:p>
            <a:pPr algn="l" rtl="0">
              <a:spcAft>
                <a:spcPts val="300"/>
              </a:spcAft>
            </a:pPr>
            <a:r>
              <a:rPr sz="1200" b="0" lang="ar-SA">
                <a:solidFill>
                  <a:srgbClr val="1C2328"/>
                </a:solidFill>
                <a:latin typeface="Arial"/>
                <a:cs typeface="Arial"/>
              </a:rPr>
              <a:t>PwC (2021). Conti attack on the HSE.</a:t>
            </a:r>
          </a:p>
          <a:p>
            <a:pPr algn="l" rtl="0">
              <a:spcAft>
                <a:spcPts val="300"/>
              </a:spcAft>
            </a:pPr>
            <a:r>
              <a:rPr sz="1200" b="0" lang="ar-SA">
                <a:solidFill>
                  <a:srgbClr val="1C2328"/>
                </a:solidFill>
                <a:latin typeface="Arial"/>
                <a:cs typeface="Arial"/>
              </a:rPr>
              <a:t>NCA (2024). ECC-2:2024.</a:t>
            </a:r>
          </a:p>
          <a:p>
            <a:pPr algn="l" rtl="0">
              <a:spcAft>
                <a:spcPts val="300"/>
              </a:spcAft>
            </a:pPr>
            <a:r>
              <a:rPr sz="1200" b="0" lang="ar-SA">
                <a:solidFill>
                  <a:srgbClr val="1C2328"/>
                </a:solidFill>
                <a:latin typeface="Arial"/>
                <a:cs typeface="Arial"/>
              </a:rPr>
              <a:t>MITRE (2024). Attack Flow corpus.</a:t>
            </a:r>
          </a:p>
          <a:p>
            <a:pPr algn="l" rtl="0">
              <a:spcAft>
                <a:spcPts val="300"/>
              </a:spcAft>
            </a:pPr>
            <a:r>
              <a:rPr sz="1200" b="0" lang="ar-SA">
                <a:solidFill>
                  <a:srgbClr val="1C2328"/>
                </a:solidFill>
                <a:latin typeface="Arial"/>
                <a:cs typeface="Arial"/>
              </a:rPr>
              <a:t>CrowdStrike (2026). Global Threat Report.</a:t>
            </a:r>
          </a:p>
        </p:txBody>
      </p:sp>
      <p:sp>
        <p:nvSpPr>
          <p:cNvPr id="26" name="شريط المشكلة">
            <a:extLst>
              <a:ext uri="{FF2B5EF4-FFF2-40B4-BE49-F238E27FC236}">
                <a16:creationId xmlns:a16="http://schemas.microsoft.com/office/drawing/2014/main" id="{A12AF916-842A-4096-B2F2-CC4CD0E6950A}"/>
              </a:ext>
            </a:extLst>
          </p:cNvPr>
          <p:cNvSpPr>
            <a:spLocks noGrp="1"/>
          </p:cNvSpPr>
          <p:nvPr/>
        </p:nvSpPr>
        <p:spPr>
          <a:xfrm>
            <a:off x="9315450" y="6068431"/>
            <a:ext cx="2886075" cy="362303"/>
          </a:xfrm>
          <a:prstGeom prst="rect">
            <a:avLst/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7" name="عنوان قسم المشكلة">
            <a:extLst>
              <a:ext uri="{FF2B5EF4-FFF2-40B4-BE49-F238E27FC236}">
                <a16:creationId xmlns:a16="http://schemas.microsoft.com/office/drawing/2014/main" id="{1ADAA117-46E9-431A-B767-31D433CB8486}"/>
              </a:ext>
            </a:extLst>
          </p:cNvPr>
          <p:cNvSpPr>
            <a:spLocks noGrp="1"/>
          </p:cNvSpPr>
          <p:nvPr/>
        </p:nvSpPr>
        <p:spPr>
          <a:xfrm>
            <a:off x="9344025" y="6079409"/>
            <a:ext cx="2828925" cy="340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5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المشكلة</a:t>
            </a:r>
          </a:p>
        </p:txBody>
      </p:sp>
      <p:sp>
        <p:nvSpPr>
          <p:cNvPr id="28" name="نص المشكلة">
            <a:extLst>
              <a:ext uri="{FF2B5EF4-FFF2-40B4-BE49-F238E27FC236}">
                <a16:creationId xmlns:a16="http://schemas.microsoft.com/office/drawing/2014/main" id="{7271459D-F905-4F58-B710-AEC82EAC7CAF}"/>
              </a:ext>
            </a:extLst>
          </p:cNvPr>
          <p:cNvSpPr>
            <a:spLocks noGrp="1"/>
          </p:cNvSpPr>
          <p:nvPr/>
        </p:nvSpPr>
        <p:spPr>
          <a:xfrm>
            <a:off x="9448800" y="6606397"/>
            <a:ext cx="2619375" cy="12955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>
            <a:defPPr algn="r"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defPPr>
          </a:lstStyle>
          <a:p>
            <a:pPr algn="r" rtl="1">
              <a:spcAft>
                <a:spcPts val="300"/>
              </a:spcAft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pP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لما يُخترق جهاز، الحل المعتاد قطع الشبكة كلها… فتتعطّل خدمات سليمة.</a:t>
            </a:r>
          </a:p>
          <a:p>
            <a:pPr algn="r" rtl="1">
              <a:spcAft>
                <a:spcPts val="300"/>
              </a:spcAft>
            </a:pP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في هجوم WannaCry تعطّلت </a:t>
            </a:r>
            <a:r>
              <a:rPr sz="1300" b="1" lang="ar-SA">
                <a:solidFill>
                  <a:srgbClr val="1C2328"/>
                </a:solidFill>
                <a:latin typeface="Arial"/>
                <a:cs typeface="Arial"/>
              </a:rPr>
              <a:t>46 جهة صحية</a:t>
            </a: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 ما وصلها الهجوم أصلًا.</a:t>
            </a:r>
          </a:p>
          <a:p>
            <a:pPr algn="r" rtl="1">
              <a:spcAft>
                <a:spcPts val="300"/>
              </a:spcAft>
            </a:pP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والمخترق ينتقل بين الأجهزة في </a:t>
            </a:r>
            <a:r>
              <a:rPr sz="1300" b="1" lang="ar-SA">
                <a:solidFill>
                  <a:srgbClr val="1C2328"/>
                </a:solidFill>
                <a:latin typeface="Arial"/>
                <a:cs typeface="Arial"/>
              </a:rPr>
              <a:t>29 دقيقة</a:t>
            </a: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 بالمتوسط، وأسرعها 27 ثانية.</a:t>
            </a:r>
          </a:p>
        </p:txBody>
      </p:sp>
      <p:sp>
        <p:nvSpPr>
          <p:cNvPr id="29" name="شريط الهدف">
            <a:extLst>
              <a:ext uri="{FF2B5EF4-FFF2-40B4-BE49-F238E27FC236}">
                <a16:creationId xmlns:a16="http://schemas.microsoft.com/office/drawing/2014/main" id="{DB5CD66E-0A55-4835-8F4B-A9C686C911FF}"/>
              </a:ext>
            </a:extLst>
          </p:cNvPr>
          <p:cNvSpPr>
            <a:spLocks noGrp="1"/>
          </p:cNvSpPr>
          <p:nvPr/>
        </p:nvSpPr>
        <p:spPr>
          <a:xfrm>
            <a:off x="9315450" y="8077570"/>
            <a:ext cx="2886075" cy="362303"/>
          </a:xfrm>
          <a:prstGeom prst="rect">
            <a:avLst/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0" name="عنوان قسم الهدف">
            <a:extLst>
              <a:ext uri="{FF2B5EF4-FFF2-40B4-BE49-F238E27FC236}">
                <a16:creationId xmlns:a16="http://schemas.microsoft.com/office/drawing/2014/main" id="{F54AA4D3-2B59-4C65-B6F9-B113D56F0DE6}"/>
              </a:ext>
            </a:extLst>
          </p:cNvPr>
          <p:cNvSpPr>
            <a:spLocks noGrp="1"/>
          </p:cNvSpPr>
          <p:nvPr/>
        </p:nvSpPr>
        <p:spPr>
          <a:xfrm>
            <a:off x="9344025" y="8088549"/>
            <a:ext cx="2828925" cy="340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الهدف</a:t>
            </a:r>
          </a:p>
        </p:txBody>
      </p:sp>
      <p:sp>
        <p:nvSpPr>
          <p:cNvPr id="31" name="نص الهدف">
            <a:extLst>
              <a:ext uri="{FF2B5EF4-FFF2-40B4-BE49-F238E27FC236}">
                <a16:creationId xmlns:a16="http://schemas.microsoft.com/office/drawing/2014/main" id="{2B541F64-63CF-4C60-8C06-4F6C773ACA7C}"/>
              </a:ext>
            </a:extLst>
          </p:cNvPr>
          <p:cNvSpPr>
            <a:spLocks noGrp="1"/>
          </p:cNvSpPr>
          <p:nvPr/>
        </p:nvSpPr>
        <p:spPr>
          <a:xfrm>
            <a:off x="9448800" y="8615536"/>
            <a:ext cx="2619375" cy="13174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>
            <a:defPPr algn="r"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defPPr>
          </a:lstStyle>
          <a:p>
            <a:pPr algn="r" rtl="1">
              <a:spcAft>
                <a:spcPts val="300"/>
              </a:spcAft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pP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نوقف المخترق بأصغر خطوة ممكنة، ونخلي باقي الخدمات شغّالة،</a:t>
            </a:r>
          </a:p>
          <a:p>
            <a:pPr algn="r" rtl="1">
              <a:spcAft>
                <a:spcPts val="300"/>
              </a:spcAft>
            </a:pPr>
            <a:r>
              <a:rPr sz="1300" b="1" lang="ar-SA">
                <a:solidFill>
                  <a:srgbClr val="1C2328"/>
                </a:solidFill>
                <a:latin typeface="Arial"/>
                <a:cs typeface="Arial"/>
              </a:rPr>
              <a:t>بدون كسر أي قاعدة أمان</a:t>
            </a: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، وكل قرار موقّع يقدر أحد يراجعه.</a:t>
            </a:r>
          </a:p>
          <a:p>
            <a:pPr algn="r" rtl="1">
              <a:spcAft>
                <a:spcPts val="300"/>
              </a:spcAft>
            </a:pP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والقرار أسرع من المخترق: </a:t>
            </a:r>
            <a:r>
              <a:rPr sz="1300" b="1" lang="ar-SA">
                <a:solidFill>
                  <a:srgbClr val="1C2328"/>
                </a:solidFill>
                <a:latin typeface="Arial"/>
                <a:cs typeface="Arial"/>
              </a:rPr>
              <a:t>أجزاء من الألف من الثانية</a:t>
            </a: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32" name="شريط الخلفية العلمية">
            <a:extLst>
              <a:ext uri="{FF2B5EF4-FFF2-40B4-BE49-F238E27FC236}">
                <a16:creationId xmlns:a16="http://schemas.microsoft.com/office/drawing/2014/main" id="{82B46164-A77D-45B0-A40F-6163884DABD1}"/>
              </a:ext>
            </a:extLst>
          </p:cNvPr>
          <p:cNvSpPr>
            <a:spLocks noGrp="1"/>
          </p:cNvSpPr>
          <p:nvPr/>
        </p:nvSpPr>
        <p:spPr>
          <a:xfrm>
            <a:off x="9315450" y="10108667"/>
            <a:ext cx="2886075" cy="362303"/>
          </a:xfrm>
          <a:prstGeom prst="rect">
            <a:avLst/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3" name="عنوان قسم الخلفية العلمية">
            <a:extLst>
              <a:ext uri="{FF2B5EF4-FFF2-40B4-BE49-F238E27FC236}">
                <a16:creationId xmlns:a16="http://schemas.microsoft.com/office/drawing/2014/main" id="{9D64DAC9-CFA3-432C-9871-F3D7CACE8856}"/>
              </a:ext>
            </a:extLst>
          </p:cNvPr>
          <p:cNvSpPr>
            <a:spLocks noGrp="1"/>
          </p:cNvSpPr>
          <p:nvPr/>
        </p:nvSpPr>
        <p:spPr>
          <a:xfrm>
            <a:off x="9344025" y="10119645"/>
            <a:ext cx="2828925" cy="340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الخلفية العلمية</a:t>
            </a:r>
          </a:p>
        </p:txBody>
      </p:sp>
      <p:sp>
        <p:nvSpPr>
          <p:cNvPr id="34" name="نص الخلفية العلمية">
            <a:extLst>
              <a:ext uri="{FF2B5EF4-FFF2-40B4-BE49-F238E27FC236}">
                <a16:creationId xmlns:a16="http://schemas.microsoft.com/office/drawing/2014/main" id="{D58A8576-2E8E-44DE-B012-A3D1A5A8C774}"/>
              </a:ext>
            </a:extLst>
          </p:cNvPr>
          <p:cNvSpPr>
            <a:spLocks noGrp="1"/>
          </p:cNvSpPr>
          <p:nvPr/>
        </p:nvSpPr>
        <p:spPr>
          <a:xfrm>
            <a:off x="9448800" y="10646633"/>
            <a:ext cx="2619375" cy="7465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>
            <a:defPPr algn="r"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defPPr>
          </a:lstStyle>
          <a:p>
            <a:pPr algn="r" rtl="1">
              <a:spcAft>
                <a:spcPts val="300"/>
              </a:spcAft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pPr>
            <a:r>
              <a:rPr sz="1200" b="0" lang="ar-SA">
                <a:solidFill>
                  <a:srgbClr val="1C2328"/>
                </a:solidFill>
                <a:latin typeface="Arial"/>
                <a:cs typeface="Arial"/>
              </a:rPr>
              <a:t>النظام يحل القرار مثل لغز: يوازن الخيارات ويختار الأفضل، على كمبيوتر عادي وحاسوب كمّي (IBM)، ويعتمد على قائمة MITRE لطرق المخترقين.</a:t>
            </a:r>
          </a:p>
        </p:txBody>
      </p:sp>
      <p:sp>
        <p:nvSpPr>
          <p:cNvPr id="35" name="شريط الفرضية أو (التصميم الهندسي)">
            <a:extLst>
              <a:ext uri="{FF2B5EF4-FFF2-40B4-BE49-F238E27FC236}">
                <a16:creationId xmlns:a16="http://schemas.microsoft.com/office/drawing/2014/main" id="{C0D12C18-CD6D-4226-B5A1-90A56F2EB34E}"/>
              </a:ext>
            </a:extLst>
          </p:cNvPr>
          <p:cNvSpPr>
            <a:spLocks noGrp="1"/>
          </p:cNvSpPr>
          <p:nvPr/>
        </p:nvSpPr>
        <p:spPr>
          <a:xfrm>
            <a:off x="9315450" y="11568861"/>
            <a:ext cx="2886075" cy="362303"/>
          </a:xfrm>
          <a:prstGeom prst="rect">
            <a:avLst/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6" name="عنوان قسم الفرضية أو (التصميم الهندسي)">
            <a:extLst>
              <a:ext uri="{FF2B5EF4-FFF2-40B4-BE49-F238E27FC236}">
                <a16:creationId xmlns:a16="http://schemas.microsoft.com/office/drawing/2014/main" id="{BBF9A87D-F07E-4761-9CE9-FFB4D8FA618B}"/>
              </a:ext>
            </a:extLst>
          </p:cNvPr>
          <p:cNvSpPr>
            <a:spLocks noGrp="1"/>
          </p:cNvSpPr>
          <p:nvPr/>
        </p:nvSpPr>
        <p:spPr>
          <a:xfrm>
            <a:off x="9344025" y="11579839"/>
            <a:ext cx="2828925" cy="340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الفرضية أو (التصميم الهندسي)</a:t>
            </a:r>
          </a:p>
        </p:txBody>
      </p:sp>
      <p:sp>
        <p:nvSpPr>
          <p:cNvPr id="37" name="نص الفرضية أو (التصميم الهندسي)">
            <a:extLst>
              <a:ext uri="{FF2B5EF4-FFF2-40B4-BE49-F238E27FC236}">
                <a16:creationId xmlns:a16="http://schemas.microsoft.com/office/drawing/2014/main" id="{4C9AAD92-8215-46C0-A599-3A8CC9534AEC}"/>
              </a:ext>
            </a:extLst>
          </p:cNvPr>
          <p:cNvSpPr>
            <a:spLocks noGrp="1"/>
          </p:cNvSpPr>
          <p:nvPr/>
        </p:nvSpPr>
        <p:spPr>
          <a:xfrm>
            <a:off x="9448800" y="12106827"/>
            <a:ext cx="2619375" cy="13174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>
            <a:defPPr algn="r"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defPPr>
          </a:lstStyle>
          <a:p>
            <a:pPr algn="r" rtl="1">
              <a:spcAft>
                <a:spcPts val="300"/>
              </a:spcAft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pP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نتوقع أن ACRS يوقف المخترق في </a:t>
            </a:r>
            <a:r>
              <a:rPr sz="1300" b="1" lang="ar-SA">
                <a:solidFill>
                  <a:srgbClr val="1C2328"/>
                </a:solidFill>
                <a:latin typeface="Arial"/>
                <a:cs typeface="Arial"/>
              </a:rPr>
              <a:t>80%</a:t>
            </a: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 أو أكثر مما يوقفه قطع الشبكة كلها، لكن يعطّل خدمات أقل، و</a:t>
            </a:r>
            <a:r>
              <a:rPr sz="1300" b="1" lang="ar-SA">
                <a:solidFill>
                  <a:srgbClr val="1C2328"/>
                </a:solidFill>
                <a:latin typeface="Arial"/>
                <a:cs typeface="Arial"/>
              </a:rPr>
              <a:t>0</a:t>
            </a: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 قرارات خطيرة.</a:t>
            </a:r>
          </a:p>
          <a:p>
            <a:pPr algn="r" rtl="1">
              <a:spcAft>
                <a:spcPts val="300"/>
              </a:spcAft>
            </a:pP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كتبنا التوقع وحفظناه قبل التجربة.</a:t>
            </a:r>
          </a:p>
        </p:txBody>
      </p:sp>
      <p:sp>
        <p:nvSpPr>
          <p:cNvPr id="38" name="شريط المتغيرات أو (المعايير الهندسية)">
            <a:extLst>
              <a:ext uri="{FF2B5EF4-FFF2-40B4-BE49-F238E27FC236}">
                <a16:creationId xmlns:a16="http://schemas.microsoft.com/office/drawing/2014/main" id="{49F22917-6EE5-4A64-8A99-1457F70C9DE2}"/>
              </a:ext>
            </a:extLst>
          </p:cNvPr>
          <p:cNvSpPr>
            <a:spLocks noGrp="1"/>
          </p:cNvSpPr>
          <p:nvPr/>
        </p:nvSpPr>
        <p:spPr>
          <a:xfrm>
            <a:off x="9315450" y="13599957"/>
            <a:ext cx="2886075" cy="362303"/>
          </a:xfrm>
          <a:prstGeom prst="rect">
            <a:avLst/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9" name="عنوان قسم المتغيرات أو (المعايير الهندسية)">
            <a:extLst>
              <a:ext uri="{FF2B5EF4-FFF2-40B4-BE49-F238E27FC236}">
                <a16:creationId xmlns:a16="http://schemas.microsoft.com/office/drawing/2014/main" id="{92B43E3B-D5F8-4535-84D7-DA7677E8CEAD}"/>
              </a:ext>
            </a:extLst>
          </p:cNvPr>
          <p:cNvSpPr>
            <a:spLocks noGrp="1"/>
          </p:cNvSpPr>
          <p:nvPr/>
        </p:nvSpPr>
        <p:spPr>
          <a:xfrm>
            <a:off x="9344025" y="13610936"/>
            <a:ext cx="2828925" cy="340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المتغيرات أو (المعايير الهندسية)</a:t>
            </a:r>
          </a:p>
        </p:txBody>
      </p:sp>
      <p:sp>
        <p:nvSpPr>
          <p:cNvPr id="40" name="نص المتغيرات أو (المعايير الهندسية)">
            <a:extLst>
              <a:ext uri="{FF2B5EF4-FFF2-40B4-BE49-F238E27FC236}">
                <a16:creationId xmlns:a16="http://schemas.microsoft.com/office/drawing/2014/main" id="{E92F7F77-3838-4C9B-8941-C2920022326F}"/>
              </a:ext>
            </a:extLst>
          </p:cNvPr>
          <p:cNvSpPr>
            <a:spLocks noGrp="1"/>
          </p:cNvSpPr>
          <p:nvPr/>
        </p:nvSpPr>
        <p:spPr>
          <a:xfrm>
            <a:off x="9448800" y="14137924"/>
            <a:ext cx="2619375" cy="11857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>
            <a:defPPr algn="r"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defPPr>
          </a:lstStyle>
          <a:p>
            <a:pPr algn="r" rtl="1">
              <a:spcAft>
                <a:spcPts val="300"/>
              </a:spcAft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pPr>
            <a:r>
              <a:rPr sz="1300" b="1" lang="ar-SA">
                <a:solidFill>
                  <a:srgbClr val="1C2328"/>
                </a:solidFill>
                <a:latin typeface="Arial"/>
                <a:cs typeface="Arial"/>
              </a:rPr>
              <a:t>اللي نغيّره: </a:t>
            </a: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طريقة الحماية: بدون حماية، أو قطع كل شي، أو قاعدة بسيطة، أو ACRS</a:t>
            </a:r>
          </a:p>
          <a:p>
            <a:pPr algn="r" rtl="1">
              <a:spcAft>
                <a:spcPts val="300"/>
              </a:spcAft>
            </a:pPr>
            <a:r>
              <a:rPr sz="1300" b="1" lang="ar-SA">
                <a:solidFill>
                  <a:srgbClr val="1C2328"/>
                </a:solidFill>
                <a:latin typeface="Arial"/>
                <a:cs typeface="Arial"/>
              </a:rPr>
              <a:t>اللي نقيسه: </a:t>
            </a: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وقف المخترق؟ كم خدمة تعطّلت؟ القرار آمن؟ الوقت.</a:t>
            </a:r>
          </a:p>
          <a:p>
            <a:pPr algn="r" rtl="1">
              <a:spcAft>
                <a:spcPts val="300"/>
              </a:spcAft>
            </a:pPr>
            <a:r>
              <a:rPr sz="1300" b="1" lang="ar-SA">
                <a:solidFill>
                  <a:srgbClr val="1C2328"/>
                </a:solidFill>
                <a:latin typeface="Arial"/>
                <a:cs typeface="Arial"/>
              </a:rPr>
              <a:t>اللي نثبّته: </a:t>
            </a:r>
            <a:r>
              <a:rPr sz="1300" b="0" lang="ar-SA">
                <a:solidFill>
                  <a:srgbClr val="1C2328"/>
                </a:solidFill>
                <a:latin typeface="Arial"/>
                <a:cs typeface="Arial"/>
              </a:rPr>
              <a:t>نفس الهجمات ونفس الإعدادات للكل.</a:t>
            </a:r>
          </a:p>
        </p:txBody>
      </p:sp>
      <p:sp>
        <p:nvSpPr>
          <p:cNvPr id="41" name="شريط الإجراءات">
            <a:extLst>
              <a:ext uri="{FF2B5EF4-FFF2-40B4-BE49-F238E27FC236}">
                <a16:creationId xmlns:a16="http://schemas.microsoft.com/office/drawing/2014/main" id="{2F83DA20-F990-42E3-BA42-6720F64C15D1}"/>
              </a:ext>
            </a:extLst>
          </p:cNvPr>
          <p:cNvSpPr>
            <a:spLocks noGrp="1"/>
          </p:cNvSpPr>
          <p:nvPr/>
        </p:nvSpPr>
        <p:spPr>
          <a:xfrm>
            <a:off x="5138738" y="6112346"/>
            <a:ext cx="2190750" cy="362303"/>
          </a:xfrm>
          <a:prstGeom prst="rect">
            <a:avLst/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2" name="عنوان قسم الإجراءات">
            <a:extLst>
              <a:ext uri="{FF2B5EF4-FFF2-40B4-BE49-F238E27FC236}">
                <a16:creationId xmlns:a16="http://schemas.microsoft.com/office/drawing/2014/main" id="{A6AFD53A-23CB-4004-98C9-033679F43877}"/>
              </a:ext>
            </a:extLst>
          </p:cNvPr>
          <p:cNvSpPr>
            <a:spLocks noGrp="1"/>
          </p:cNvSpPr>
          <p:nvPr/>
        </p:nvSpPr>
        <p:spPr>
          <a:xfrm>
            <a:off x="5167313" y="6123325"/>
            <a:ext cx="2133600" cy="340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الإجراءات</a:t>
            </a:r>
          </a:p>
        </p:txBody>
      </p:sp>
      <p:sp>
        <p:nvSpPr>
          <p:cNvPr id="43" name="خلفية الإجراءات">
            <a:extLst>
              <a:ext uri="{FF2B5EF4-FFF2-40B4-BE49-F238E27FC236}">
                <a16:creationId xmlns:a16="http://schemas.microsoft.com/office/drawing/2014/main" id="{59161262-F38E-400F-8972-84DF1ACAF480}"/>
              </a:ext>
            </a:extLst>
          </p:cNvPr>
          <p:cNvSpPr>
            <a:spLocks noGrp="1"/>
          </p:cNvSpPr>
          <p:nvPr/>
        </p:nvSpPr>
        <p:spPr>
          <a:xfrm>
            <a:off x="3419475" y="6540523"/>
            <a:ext cx="5629275" cy="2129907"/>
          </a:xfrm>
          <a:prstGeom prst="rect">
            <a:avLst/>
          </a:prstGeom>
          <a:solidFill>
            <a:srgbClr val="E2F2F2"/>
          </a:soli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4" name="نص الإجراءات">
            <a:extLst>
              <a:ext uri="{FF2B5EF4-FFF2-40B4-BE49-F238E27FC236}">
                <a16:creationId xmlns:a16="http://schemas.microsoft.com/office/drawing/2014/main" id="{B58384E2-AED9-4DDC-A218-DD7944F8B705}"/>
              </a:ext>
            </a:extLst>
          </p:cNvPr>
          <p:cNvSpPr>
            <a:spLocks noGrp="1"/>
          </p:cNvSpPr>
          <p:nvPr/>
        </p:nvSpPr>
        <p:spPr>
          <a:xfrm>
            <a:off x="3552825" y="6650312"/>
            <a:ext cx="5362575" cy="19103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r"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defPPr>
          </a:lstStyle>
          <a:p/>
        </p:txBody>
      </p:sp>
      <p:sp>
        <p:nvSpPr>
          <p:cNvPr id="45" name="شريط البيانات">
            <a:extLst>
              <a:ext uri="{FF2B5EF4-FFF2-40B4-BE49-F238E27FC236}">
                <a16:creationId xmlns:a16="http://schemas.microsoft.com/office/drawing/2014/main" id="{4EEB62EA-EE1A-4A95-9F38-30D99404700A}"/>
              </a:ext>
            </a:extLst>
          </p:cNvPr>
          <p:cNvSpPr>
            <a:spLocks noGrp="1"/>
          </p:cNvSpPr>
          <p:nvPr/>
        </p:nvSpPr>
        <p:spPr>
          <a:xfrm>
            <a:off x="5138738" y="8813156"/>
            <a:ext cx="2190750" cy="362303"/>
          </a:xfrm>
          <a:prstGeom prst="rect">
            <a:avLst/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6" name="عنوان قسم البيانات">
            <a:extLst>
              <a:ext uri="{FF2B5EF4-FFF2-40B4-BE49-F238E27FC236}">
                <a16:creationId xmlns:a16="http://schemas.microsoft.com/office/drawing/2014/main" id="{CF201833-9F0F-4819-8123-067E772243DA}"/>
              </a:ext>
            </a:extLst>
          </p:cNvPr>
          <p:cNvSpPr>
            <a:spLocks noGrp="1"/>
          </p:cNvSpPr>
          <p:nvPr/>
        </p:nvSpPr>
        <p:spPr>
          <a:xfrm>
            <a:off x="5167313" y="8824135"/>
            <a:ext cx="2133600" cy="340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البيانات</a:t>
            </a:r>
          </a:p>
        </p:txBody>
      </p:sp>
      <p:sp>
        <p:nvSpPr>
          <p:cNvPr id="47" name="خلفية البيانات">
            <a:extLst>
              <a:ext uri="{FF2B5EF4-FFF2-40B4-BE49-F238E27FC236}">
                <a16:creationId xmlns:a16="http://schemas.microsoft.com/office/drawing/2014/main" id="{E5564E9F-5C40-42D3-99F2-B02DCF3B7FC5}"/>
              </a:ext>
            </a:extLst>
          </p:cNvPr>
          <p:cNvSpPr>
            <a:spLocks noGrp="1"/>
          </p:cNvSpPr>
          <p:nvPr/>
        </p:nvSpPr>
        <p:spPr>
          <a:xfrm>
            <a:off x="3419475" y="9241333"/>
            <a:ext cx="5629275" cy="1811518"/>
          </a:xfrm>
          <a:prstGeom prst="rect">
            <a:avLst/>
          </a:prstGeom>
          <a:solidFill>
            <a:srgbClr val="E2F2F2"/>
          </a:soli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8" name="نص البيانات">
            <a:extLst>
              <a:ext uri="{FF2B5EF4-FFF2-40B4-BE49-F238E27FC236}">
                <a16:creationId xmlns:a16="http://schemas.microsoft.com/office/drawing/2014/main" id="{3C62CC70-3933-458E-B470-9F63D62C3224}"/>
              </a:ext>
            </a:extLst>
          </p:cNvPr>
          <p:cNvSpPr>
            <a:spLocks noGrp="1"/>
          </p:cNvSpPr>
          <p:nvPr/>
        </p:nvSpPr>
        <p:spPr>
          <a:xfrm>
            <a:off x="3552825" y="9351122"/>
            <a:ext cx="5362575" cy="159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>
            <a:defPPr algn="r"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defPPr>
          </a:lstStyle>
          <a:p>
            <a:pPr algn="r" rtl="1">
              <a:spcAft>
                <a:spcPts val="300"/>
              </a:spcAft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pPr>
            <a:r>
              <a:rPr sz="1400" b="1" lang="ar-SA">
                <a:solidFill>
                  <a:srgbClr val="1C2328"/>
                </a:solidFill>
                <a:latin typeface="Arial"/>
                <a:cs typeface="Arial"/>
              </a:rPr>
              <a:t>جرّبنا كل الطرق على نفس الهجمات:</a:t>
            </a:r>
          </a:p>
          <a:p>
            <a:pPr algn="r" rtl="1">
              <a:spcAft>
                <a:spcPts val="300"/>
              </a:spcAft>
            </a:pPr>
            <a:r>
              <a:rPr sz="1400" b="1" lang="ar-SA">
                <a:solidFill>
                  <a:srgbClr val="008A58"/>
                </a:solidFill>
                <a:latin typeface="Arial"/>
                <a:cs typeface="Arial"/>
              </a:rPr>
              <a:t>الضابطة </a:t>
            </a:r>
            <a:r>
              <a:rPr sz="1400" b="0" lang="ar-SA">
                <a:solidFill>
                  <a:srgbClr val="1C2328"/>
                </a:solidFill>
                <a:latin typeface="Arial"/>
                <a:cs typeface="Arial"/>
              </a:rPr>
              <a:t>بدون حماية: المخترق يوصل لأجهزة مهمة من 23 طريق</a:t>
            </a:r>
          </a:p>
          <a:p>
            <a:pPr algn="r" rtl="1">
              <a:spcAft>
                <a:spcPts val="300"/>
              </a:spcAft>
            </a:pPr>
            <a:r>
              <a:rPr sz="1400" b="1" lang="ar-SA">
                <a:solidFill>
                  <a:srgbClr val="008A58"/>
                </a:solidFill>
                <a:latin typeface="Arial"/>
                <a:cs typeface="Arial"/>
              </a:rPr>
              <a:t>أ </a:t>
            </a:r>
            <a:r>
              <a:rPr sz="1400" b="0" lang="ar-SA">
                <a:solidFill>
                  <a:srgbClr val="1C2328"/>
                </a:solidFill>
                <a:latin typeface="Arial"/>
                <a:cs typeface="Arial"/>
              </a:rPr>
              <a:t>محاكاة: أكثر من 4,000 هجوم، و894 لحظة تشبه الواقع</a:t>
            </a:r>
          </a:p>
          <a:p>
            <a:pPr algn="r" rtl="1">
              <a:spcAft>
                <a:spcPts val="300"/>
              </a:spcAft>
            </a:pPr>
            <a:r>
              <a:rPr sz="1400" b="1" lang="ar-SA">
                <a:solidFill>
                  <a:srgbClr val="008A58"/>
                </a:solidFill>
                <a:latin typeface="Arial"/>
                <a:cs typeface="Arial"/>
              </a:rPr>
              <a:t>ب </a:t>
            </a:r>
            <a:r>
              <a:rPr sz="1400" b="0" lang="ar-SA">
                <a:solidFill>
                  <a:srgbClr val="1C2328"/>
                </a:solidFill>
                <a:latin typeface="Arial"/>
                <a:cs typeface="Arial"/>
              </a:rPr>
              <a:t>كمبيوتر Linux حقيقي: نفّذ القرارات صح 66 من 66</a:t>
            </a:r>
          </a:p>
          <a:p>
            <a:pPr algn="r" rtl="1">
              <a:spcAft>
                <a:spcPts val="300"/>
              </a:spcAft>
            </a:pPr>
            <a:r>
              <a:rPr sz="1400" b="1" lang="ar-SA">
                <a:solidFill>
                  <a:srgbClr val="008A58"/>
                </a:solidFill>
                <a:latin typeface="Arial"/>
                <a:cs typeface="Arial"/>
              </a:rPr>
              <a:t>ج </a:t>
            </a:r>
            <a:r>
              <a:rPr sz="1400" b="0" lang="ar-SA">
                <a:solidFill>
                  <a:srgbClr val="1C2328"/>
                </a:solidFill>
                <a:latin typeface="Arial"/>
                <a:cs typeface="Arial"/>
              </a:rPr>
              <a:t>حاسوب كمّي (IBM): لقى أفضل حل 11 من 11</a:t>
            </a:r>
          </a:p>
          <a:p>
            <a:pPr algn="r" rtl="1">
              <a:spcAft>
                <a:spcPts val="300"/>
              </a:spcAft>
            </a:pPr>
            <a:r>
              <a:rPr sz="1400" b="1" lang="ar-SA">
                <a:solidFill>
                  <a:srgbClr val="008A58"/>
                </a:solidFill>
                <a:latin typeface="Arial"/>
                <a:cs typeface="Arial"/>
              </a:rPr>
              <a:t>د </a:t>
            </a:r>
            <a:r>
              <a:rPr sz="1400" b="0" lang="ar-SA">
                <a:solidFill>
                  <a:srgbClr val="1C2328"/>
                </a:solidFill>
                <a:latin typeface="Arial"/>
                <a:cs typeface="Arial"/>
              </a:rPr>
              <a:t>83 اختراق حقيقي صار في العالم 2013–2026</a:t>
            </a:r>
          </a:p>
        </p:txBody>
      </p:sp>
      <p:sp>
        <p:nvSpPr>
          <p:cNvPr id="49" name="شريط الرسومات البيانية">
            <a:extLst>
              <a:ext uri="{FF2B5EF4-FFF2-40B4-BE49-F238E27FC236}">
                <a16:creationId xmlns:a16="http://schemas.microsoft.com/office/drawing/2014/main" id="{3BF91738-1DCF-4B3E-B2F8-163565EE8C32}"/>
              </a:ext>
            </a:extLst>
          </p:cNvPr>
          <p:cNvSpPr>
            <a:spLocks noGrp="1"/>
          </p:cNvSpPr>
          <p:nvPr/>
        </p:nvSpPr>
        <p:spPr>
          <a:xfrm>
            <a:off x="5138738" y="11184599"/>
            <a:ext cx="2190750" cy="362303"/>
          </a:xfrm>
          <a:prstGeom prst="rect">
            <a:avLst/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0" name="عنوان قسم الرسومات البيانية">
            <a:extLst>
              <a:ext uri="{FF2B5EF4-FFF2-40B4-BE49-F238E27FC236}">
                <a16:creationId xmlns:a16="http://schemas.microsoft.com/office/drawing/2014/main" id="{024BEC80-3183-4FAC-89AA-D5B799B114C1}"/>
              </a:ext>
            </a:extLst>
          </p:cNvPr>
          <p:cNvSpPr>
            <a:spLocks noGrp="1"/>
          </p:cNvSpPr>
          <p:nvPr/>
        </p:nvSpPr>
        <p:spPr>
          <a:xfrm>
            <a:off x="5167313" y="11195578"/>
            <a:ext cx="2133600" cy="340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الرسومات البيانية</a:t>
            </a:r>
          </a:p>
        </p:txBody>
      </p:sp>
      <p:sp>
        <p:nvSpPr>
          <p:cNvPr id="51" name="خلفية الرسومات البيانية">
            <a:extLst>
              <a:ext uri="{FF2B5EF4-FFF2-40B4-BE49-F238E27FC236}">
                <a16:creationId xmlns:a16="http://schemas.microsoft.com/office/drawing/2014/main" id="{8930A231-4EF9-47ED-B164-A5BD82C60310}"/>
              </a:ext>
            </a:extLst>
          </p:cNvPr>
          <p:cNvSpPr>
            <a:spLocks noGrp="1"/>
          </p:cNvSpPr>
          <p:nvPr/>
        </p:nvSpPr>
        <p:spPr>
          <a:xfrm>
            <a:off x="3419475" y="11612776"/>
            <a:ext cx="5629275" cy="2656894"/>
          </a:xfrm>
          <a:prstGeom prst="rect">
            <a:avLst/>
          </a:prstGeom>
          <a:solidFill>
            <a:srgbClr val="E2F2F2"/>
          </a:soli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2" name="نص الرسومات البيانية">
            <a:extLst>
              <a:ext uri="{FF2B5EF4-FFF2-40B4-BE49-F238E27FC236}">
                <a16:creationId xmlns:a16="http://schemas.microsoft.com/office/drawing/2014/main" id="{9D034D89-166B-4A6E-BA24-A953773ECC55}"/>
              </a:ext>
            </a:extLst>
          </p:cNvPr>
          <p:cNvSpPr>
            <a:spLocks noGrp="1"/>
          </p:cNvSpPr>
          <p:nvPr/>
        </p:nvSpPr>
        <p:spPr>
          <a:xfrm>
            <a:off x="3552825" y="11722565"/>
            <a:ext cx="5362575" cy="24373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r"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defPPr>
          </a:lstStyle>
          <a:p/>
        </p:txBody>
      </p:sp>
      <p:sp>
        <p:nvSpPr>
          <p:cNvPr id="53" name="شريط تحليل البيانات">
            <a:extLst>
              <a:ext uri="{FF2B5EF4-FFF2-40B4-BE49-F238E27FC236}">
                <a16:creationId xmlns:a16="http://schemas.microsoft.com/office/drawing/2014/main" id="{266E4A6D-BD27-47CE-A0FF-775BF3735755}"/>
              </a:ext>
            </a:extLst>
          </p:cNvPr>
          <p:cNvSpPr>
            <a:spLocks noGrp="1"/>
          </p:cNvSpPr>
          <p:nvPr/>
        </p:nvSpPr>
        <p:spPr>
          <a:xfrm>
            <a:off x="5138738" y="14412396"/>
            <a:ext cx="2190750" cy="362303"/>
          </a:xfrm>
          <a:prstGeom prst="rect">
            <a:avLst/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4" name="عنوان قسم تحليل البيانات">
            <a:extLst>
              <a:ext uri="{FF2B5EF4-FFF2-40B4-BE49-F238E27FC236}">
                <a16:creationId xmlns:a16="http://schemas.microsoft.com/office/drawing/2014/main" id="{0282C7C1-BD2E-4EAF-BA4A-2F112D8344C8}"/>
              </a:ext>
            </a:extLst>
          </p:cNvPr>
          <p:cNvSpPr>
            <a:spLocks noGrp="1"/>
          </p:cNvSpPr>
          <p:nvPr/>
        </p:nvSpPr>
        <p:spPr>
          <a:xfrm>
            <a:off x="5167313" y="14423375"/>
            <a:ext cx="2133600" cy="340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تحليل البيانات</a:t>
            </a:r>
          </a:p>
        </p:txBody>
      </p:sp>
      <p:sp>
        <p:nvSpPr>
          <p:cNvPr id="55" name="خلفية تحليل البيانات">
            <a:extLst>
              <a:ext uri="{FF2B5EF4-FFF2-40B4-BE49-F238E27FC236}">
                <a16:creationId xmlns:a16="http://schemas.microsoft.com/office/drawing/2014/main" id="{6AE888C2-11DC-4F45-8878-B82FC3F19E91}"/>
              </a:ext>
            </a:extLst>
          </p:cNvPr>
          <p:cNvSpPr>
            <a:spLocks noGrp="1"/>
          </p:cNvSpPr>
          <p:nvPr/>
        </p:nvSpPr>
        <p:spPr>
          <a:xfrm>
            <a:off x="3419475" y="14840573"/>
            <a:ext cx="5629275" cy="680691"/>
          </a:xfrm>
          <a:prstGeom prst="rect">
            <a:avLst/>
          </a:prstGeom>
          <a:solidFill>
            <a:srgbClr val="E2F2F2"/>
          </a:soli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6" name="نص تحليل البيانات">
            <a:extLst>
              <a:ext uri="{FF2B5EF4-FFF2-40B4-BE49-F238E27FC236}">
                <a16:creationId xmlns:a16="http://schemas.microsoft.com/office/drawing/2014/main" id="{826D111D-E87B-4E63-8F7B-EDBE3E732617}"/>
              </a:ext>
            </a:extLst>
          </p:cNvPr>
          <p:cNvSpPr>
            <a:spLocks noGrp="1"/>
          </p:cNvSpPr>
          <p:nvPr/>
        </p:nvSpPr>
        <p:spPr>
          <a:xfrm>
            <a:off x="3552825" y="14950362"/>
            <a:ext cx="5362575" cy="461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r"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defPPr>
          </a:lstStyle>
          <a:p>
            <a:pPr algn="r" rtl="1">
              <a:spcAft>
                <a:spcPts val="300"/>
              </a:spcAft>
              <a:defRPr sz="1500" b="0">
                <a:solidFill>
                  <a:srgbClr val="B0BAC0"/>
                </a:solidFill>
                <a:latin typeface="Arial"/>
                <a:ea typeface="Arial"/>
                <a:cs typeface="Arial"/>
              </a:defRPr>
            </a:pPr>
            <a:r>
              <a:rPr sz="1100" b="1" lang="ar-SA">
                <a:solidFill>
                  <a:srgbClr val="1C2328"/>
                </a:solidFill>
                <a:latin typeface="Arial"/>
                <a:cs typeface="Arial"/>
              </a:rPr>
              <a:t>اختبار الضغط: </a:t>
            </a:r>
            <a:r>
              <a:rPr sz="1100" b="0" lang="ar-SA">
                <a:solidFill>
                  <a:srgbClr val="1C2328"/>
                </a:solidFill>
                <a:latin typeface="Arial"/>
                <a:cs typeface="Arial"/>
              </a:rPr>
              <a:t>1,000 جهاز ← قرار في أقل من 3 أجزاء من الألف من الثانية · 1,000 تنبيه ← 0.7 ث</a:t>
            </a:r>
          </a:p>
          <a:p>
            <a:pPr algn="r" rtl="1">
              <a:spcAft>
                <a:spcPts val="300"/>
              </a:spcAft>
            </a:pPr>
            <a:r>
              <a:rPr sz="1100" b="1" lang="ar-SA">
                <a:solidFill>
                  <a:srgbClr val="1C2328"/>
                </a:solidFill>
                <a:latin typeface="Arial"/>
                <a:cs typeface="Arial"/>
              </a:rPr>
              <a:t>اختبار العطل: </a:t>
            </a:r>
            <a:r>
              <a:rPr sz="1100" b="0" lang="ar-SA">
                <a:solidFill>
                  <a:srgbClr val="1C2328"/>
                </a:solidFill>
                <a:latin typeface="Arial"/>
                <a:cs typeface="Arial"/>
              </a:rPr>
              <a:t>354 عطلًا محقونًا ← 0 قرار خطير · 200 إعادة تشغيل ← 0 جهاز رجع</a:t>
            </a:r>
          </a:p>
        </p:txBody>
      </p:sp>
      <p:sp>
        <p:nvSpPr>
          <p:cNvPr id="57" name="التذييل">
            <a:extLst>
              <a:ext uri="{FF2B5EF4-FFF2-40B4-BE49-F238E27FC236}">
                <a16:creationId xmlns:a16="http://schemas.microsoft.com/office/drawing/2014/main" id="{BB24308F-38A4-43F4-B8DB-ADC4D2C0F80D}"/>
              </a:ext>
            </a:extLst>
          </p:cNvPr>
          <p:cNvSpPr>
            <a:spLocks noGrp="1"/>
          </p:cNvSpPr>
          <p:nvPr/>
        </p:nvSpPr>
        <p:spPr>
          <a:xfrm>
            <a:off x="0" y="16383000"/>
            <a:ext cx="12458700" cy="1900496"/>
          </a:xfrm>
          <a:prstGeom prst="rect">
            <a:avLst/>
          </a:prstGeom>
          <a:gradFill>
            <a:gsLst>
              <a:gs pos="0">
                <a:srgbClr val="417FB5"/>
              </a:gs>
              <a:gs pos="30000">
                <a:srgbClr val="417FB5"/>
              </a:gs>
              <a:gs pos="65000">
                <a:srgbClr val="0DA4A6"/>
              </a:gs>
              <a:gs pos="100000">
                <a:srgbClr val="00A866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0" name="اسم الطالب">
            <a:extLst>
              <a:ext uri="{FF2B5EF4-FFF2-40B4-BE49-F238E27FC236}">
                <a16:creationId xmlns:a16="http://schemas.microsoft.com/office/drawing/2014/main" id="{FCBD94AF-353D-0C9B-A923-87A1567A03A7}"/>
              </a:ext>
            </a:extLst>
          </p:cNvPr>
          <p:cNvSpPr>
            <a:spLocks noGrp="1"/>
          </p:cNvSpPr>
          <p:nvPr/>
        </p:nvSpPr>
        <p:spPr>
          <a:xfrm>
            <a:off x="7470775" y="895350"/>
            <a:ext cx="498792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/>
            <a:r>
              <a:rPr lang="ar-SA" b="1" dirty="0"/>
              <a:t>      المملكة العربية السعودية</a:t>
            </a:r>
            <a:endParaRPr lang="en-US" dirty="0"/>
          </a:p>
          <a:p>
            <a:r>
              <a:rPr lang="ar-SA" dirty="0"/>
              <a:t>                       الإدارة العامة للتعليم بمحافظة جدة</a:t>
            </a:r>
            <a:endParaRPr lang="en-US" dirty="0"/>
          </a:p>
          <a:p>
            <a:pPr algn="ctr"/>
            <a:r>
              <a:rPr lang="ar-SA" dirty="0"/>
              <a:t>       إدارة تنمية القدرات | قسم الموهوبين</a:t>
            </a:r>
            <a:endParaRPr lang="en-US" dirty="0"/>
          </a:p>
          <a:p>
            <a:r>
              <a:rPr lang="ar-SA" b="1" dirty="0"/>
              <a:t>        ثانوية الموهوبين التقنية | أولمبياد الموهبة الوطني (إبداع)</a:t>
            </a:r>
            <a:endParaRPr lang="ar-SA" sz="20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62" name="عنوان المشروع">
            <a:extLst>
              <a:ext uri="{FF2B5EF4-FFF2-40B4-BE49-F238E27FC236}">
                <a16:creationId xmlns:a16="http://schemas.microsoft.com/office/drawing/2014/main" id="{44D265C6-E6A1-08A7-4E3D-57379C1EB122}"/>
              </a:ext>
            </a:extLst>
          </p:cNvPr>
          <p:cNvSpPr>
            <a:spLocks noGrp="1"/>
          </p:cNvSpPr>
          <p:nvPr/>
        </p:nvSpPr>
        <p:spPr>
          <a:xfrm>
            <a:off x="2494160" y="16844298"/>
            <a:ext cx="7470380" cy="97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>
            <a:defPPr algn="ctr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 rtl="1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ar-SA" sz="2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لوحة عرض مشاريع إبداع – طلاب ثانوية الموهوبين التقنية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00000" y="4960000"/>
            <a:ext cx="7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1900">
                <a:solidFill>
                  <a:srgbClr val="FFFFFF"/>
                </a:solidFill>
                <a:latin typeface="Arial"/>
              </a:rPr>
              <a:t>يوقف المخترق بأصغر خطوة آمنة… والخدمات تبقى شغّالة</a:t>
            </a:r>
          </a:p>
        </p:txBody>
      </p:sp>
      <p:pic>
        <p:nvPicPr>
          <p:cNvPr id="64" name="Picture 63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5500" y="3301300"/>
            <a:ext cx="1100000" cy="1000000"/>
          </a:xfrm>
          <a:prstGeom prst="rect">
            <a:avLst/>
          </a:prstGeom>
        </p:spPr>
      </p:pic>
      <p:pic>
        <p:nvPicPr>
          <p:cNvPr id="65" name="Picture 64" descr="pi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9475" y="6573345"/>
            <a:ext cx="5529275" cy="2064262"/>
          </a:xfrm>
          <a:prstGeom prst="rect">
            <a:avLst/>
          </a:prstGeom>
        </p:spPr>
      </p:pic>
      <p:pic>
        <p:nvPicPr>
          <p:cNvPr id="66" name="Picture 65" descr="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9475" y="11620121"/>
            <a:ext cx="5509275" cy="264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3227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DocSecurity>0</DocSecurity>
  <PresentationFormat>مخصص</PresentationFormat>
  <Paragraphs>36</Paragraphs>
  <Slides>1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4" baseType="lpstr">
      <vt:lpstr>Aptos</vt:lpstr>
      <vt:lpstr>Arial</vt:lpstr>
      <vt:lpstr>ChatGPT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محمد الظاهري</cp:lastModifiedBy>
  <cp:revision>1</cp:revision>
  <dcterms:created xsi:type="dcterms:W3CDTF">2026-10-15T06:47:57Z</dcterms:created>
  <dcterms:modified xsi:type="dcterms:W3CDTF">2026-10-15T09:25:15Z</dcterms:modified>
</cp:coreProperties>
</file>